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ego Dopazo" initials="DD" lastIdx="1" clrIdx="0">
    <p:extLst>
      <p:ext uri="{19B8F6BF-5375-455C-9EA6-DF929625EA0E}">
        <p15:presenceInfo xmlns:p15="http://schemas.microsoft.com/office/powerpoint/2012/main" userId="d57a4870e183da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2T19:53:41.434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8B7A-3562-4749-9913-8BF50B9F5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CD19A-E3AD-4556-9181-7EDD752D9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4FA0-5AAA-4874-A5D9-7C84A8DC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B98A8-7B01-46D9-95C2-749CFBD0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6FB91-3A62-4335-9550-B28702A5A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6477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D270F-DD68-481C-AA6C-3145CFDA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4CEF5-8977-459E-8EDB-B4908121F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3990F-32BF-48F7-8772-817F11210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FB7D0-5E66-47CB-A8C9-8925DBC8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1076D-B0E4-47EE-A7CB-A09BF204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57184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0048-F26D-41B7-854C-60CB0689E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6C106-1B01-4901-B247-046D48DA9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446E3-3E90-49CD-9783-6D7416003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F785E-2FB5-49A3-9F07-674366CA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F4BF-01A6-4D05-96F0-48BE60C5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14508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F023-2023-4FF4-84C0-BA16DAC1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30857-EA8F-45AD-8E09-49F7CC65D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4A9A11-0D85-4B94-B624-F5B9882D8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00AB9-F0C6-493D-9389-DDCE7BFF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3DDD-4DC3-4B89-8986-6506C33FB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CEA6E-7233-43A2-9317-D01A11A8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400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A83D-D8E3-4063-B413-9590E8FE2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60E2F-C9CC-4581-BF1E-34829828B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937A4-E728-4CFB-BA65-0C05E462E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E6D1C-8751-4ACF-8D27-0724F6583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DDE043-8F31-4336-B89B-CC439D8B0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9B3D50-FCBD-4D72-8E7B-C0C0B395C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E1FEE-4D77-43E3-AA8E-BFCB9780A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3E2B01-3728-4B56-B57B-28C4CC8D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7507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18B5-973C-4C01-BC56-7352A135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19C9C-5BA3-494F-BDC8-2C9A29D66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74FEC-5648-4F60-A14A-ADF3E4A5E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9E7AE-A048-4238-97E3-C6AA06F6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3271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AF29B-A8C3-473C-AEF1-14ED4CADA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1B5161-40D5-47B4-A9CE-E3B9B939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A990-267B-43BF-9986-1D5B4EFB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25098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F74B-34CD-43F6-9D05-FD3BC6CE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6607-4F96-450E-BFAF-265F9E25D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B745E-6E9E-4279-BB70-E778371FE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2CDB4-FC3B-4CC4-8FBC-A02B0AD16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39C72-23A0-4AA3-B259-CB956AA3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DDFAF-199E-48B6-90D7-FDBB75CA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55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2345-9B81-418B-BE91-FC48A3179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63E24E-C208-4CAD-B443-E9AEE21AD8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489C77-4886-43DF-8FC4-54F03B3D3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DB548-2D50-4818-A4D3-03E33FF8B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64010-510C-4FE3-8DF0-255DE9D92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918DF-A294-4A41-8D2F-34E060E6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4585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9B46-9B56-4969-9E71-3AA7AD2AB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B65B6-8B09-4CEA-B459-ED9AEF9B9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E6908-FFDD-4B5A-8A35-C3ABCFA2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6FBD8-8302-4966-BAFE-2B168D9B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2A03C-92CC-4097-B726-CA266DD7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8805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8AB827-8BF8-4BC3-8F95-DFEE60080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1FC87-18D0-4C0F-9CD8-0F9EC0D01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2625E-78D4-4A50-B065-27A1F2BF2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1B5CB-3E64-42E3-BE08-EE869B0A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3AA99-569D-447A-91F1-2036CEF6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1737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D093D-BB9F-4C8B-80C1-F44AC94A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661B8-7052-4871-A830-CB29317A2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419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115F-5D25-456E-882E-DE29B1449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00285-6A48-4675-BF1A-7079B81C5EF2}" type="datetimeFigureOut">
              <a:rPr lang="es-419" smtClean="0"/>
              <a:t>2/3/2026</a:t>
            </a:fld>
            <a:endParaRPr lang="es-419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3CC6A-68E5-4A01-B702-4D4048B48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19272-A0D5-40B9-9026-FAC547D63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1E38F-3DC6-439E-B8DF-06E8B7A3E7E8}" type="slidenum">
              <a:rPr lang="es-419" smtClean="0"/>
              <a:t>‹#›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45822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7325B-4628-4427-BB12-996824F28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6296" y="1527048"/>
            <a:ext cx="8369808" cy="2412015"/>
          </a:xfrm>
        </p:spPr>
        <p:txBody>
          <a:bodyPr>
            <a:normAutofit fontScale="90000"/>
          </a:bodyPr>
          <a:lstStyle/>
          <a:p>
            <a:r>
              <a:rPr lang="es-419" b="1" dirty="0"/>
              <a:t>MUNDIAL 2026:</a:t>
            </a:r>
            <a:br>
              <a:rPr lang="es-419" dirty="0"/>
            </a:br>
            <a:r>
              <a:rPr lang="es-419" sz="4400" dirty="0"/>
              <a:t> Un análisis de datos sobre el rendimiento de las selecciones previo al torneo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DF919C-3E03-420B-BF95-8E5205EF2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4296"/>
            <a:ext cx="9144000" cy="603504"/>
          </a:xfrm>
        </p:spPr>
        <p:txBody>
          <a:bodyPr>
            <a:normAutofit lnSpcReduction="10000"/>
          </a:bodyPr>
          <a:lstStyle/>
          <a:p>
            <a:r>
              <a:rPr lang="es-ES" sz="4000" dirty="0"/>
              <a:t>AUTOR</a:t>
            </a:r>
            <a:r>
              <a:rPr lang="es-ES" dirty="0"/>
              <a:t>: </a:t>
            </a:r>
            <a:r>
              <a:rPr lang="es-ES" sz="3600" dirty="0"/>
              <a:t>Diego Dopazo</a:t>
            </a:r>
            <a:endParaRPr lang="es-419" sz="3600" dirty="0"/>
          </a:p>
        </p:txBody>
      </p:sp>
    </p:spTree>
    <p:extLst>
      <p:ext uri="{BB962C8B-B14F-4D97-AF65-F5344CB8AC3E}">
        <p14:creationId xmlns:p14="http://schemas.microsoft.com/office/powerpoint/2010/main" val="3206629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7EB23-BF14-40A3-8765-10BDEF4F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¿Por qué este análisis y para quién?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C5687-08E8-48EF-BB11-9EED0EC2D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419" b="1" dirty="0"/>
              <a:t>Motivación:</a:t>
            </a:r>
            <a:endParaRPr lang="es-419" dirty="0"/>
          </a:p>
          <a:p>
            <a:pPr lvl="1"/>
            <a:r>
              <a:rPr lang="es-419" dirty="0"/>
              <a:t>El Mundial de Fútbol de 2026 será el más grande de la historia: 48 selecciones, 3 países anfitriones y 104 partidos.</a:t>
            </a:r>
          </a:p>
          <a:p>
            <a:pPr lvl="1"/>
            <a:r>
              <a:rPr lang="es-419" dirty="0"/>
              <a:t>Este proyecto busca validar (o refutar) mitos comunes del fútbol, como la ventaja de ser local o la relación entre el ranking y el rendimiento.</a:t>
            </a:r>
          </a:p>
          <a:p>
            <a:pPr lvl="1"/>
            <a:endParaRPr lang="es-419" dirty="0"/>
          </a:p>
          <a:p>
            <a:r>
              <a:rPr lang="es-419" b="1" dirty="0"/>
              <a:t>Audiencia:</a:t>
            </a:r>
            <a:endParaRPr lang="es-419" dirty="0"/>
          </a:p>
          <a:p>
            <a:pPr lvl="1"/>
            <a:r>
              <a:rPr lang="es-419" b="1" dirty="0"/>
              <a:t>Directivos y tomadores de decisiones</a:t>
            </a:r>
            <a:r>
              <a:rPr lang="es-419" dirty="0"/>
              <a:t> en el ámbito deportivo que buscan una comprensión basada en evidencia.</a:t>
            </a:r>
          </a:p>
          <a:p>
            <a:pPr lvl="1"/>
            <a:r>
              <a:rPr lang="es-419" b="1" dirty="0"/>
              <a:t>Aficionados al fútbol</a:t>
            </a:r>
            <a:r>
              <a:rPr lang="es-419" dirty="0"/>
              <a:t> interesados en un análisis más profundo y menos especulativo del torneo.</a:t>
            </a:r>
          </a:p>
          <a:p>
            <a:pPr lvl="1"/>
            <a:r>
              <a:rPr lang="es-419" b="1" dirty="0"/>
              <a:t>Profesionales de marketing y comunicaciones</a:t>
            </a:r>
            <a:r>
              <a:rPr lang="es-419" dirty="0"/>
              <a:t> que deseen identificar a los equipos y jugadores con mayor proyección mediática.</a:t>
            </a:r>
            <a:br>
              <a:rPr lang="es-419" dirty="0"/>
            </a:b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06070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DD8A-D87F-4106-87C2-99D56D56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Resumen de la </a:t>
            </a:r>
            <a:r>
              <a:rPr lang="es-419" b="1" dirty="0" err="1"/>
              <a:t>Metadata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AF8A1-A47A-4EFC-B6C0-CC26D99F8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0160"/>
            <a:ext cx="10515600" cy="4896803"/>
          </a:xfrm>
        </p:spPr>
        <p:txBody>
          <a:bodyPr/>
          <a:lstStyle/>
          <a:p>
            <a:r>
              <a:rPr lang="es-419" b="1" dirty="0"/>
              <a:t>Descripción:</a:t>
            </a:r>
            <a:r>
              <a:rPr lang="es-419" dirty="0"/>
              <a:t> </a:t>
            </a:r>
            <a:r>
              <a:rPr lang="es-419" sz="2400" dirty="0"/>
              <a:t>Combinamos información oficial del torneo con estadísticas de rendimiento y datos demográficos </a:t>
            </a:r>
            <a:br>
              <a:rPr lang="es-419" dirty="0"/>
            </a:br>
            <a:endParaRPr lang="es-419" dirty="0"/>
          </a:p>
          <a:p>
            <a:endParaRPr lang="es-419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63F9DA-6F29-419D-A1F6-D2A8CD6A4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572035"/>
              </p:ext>
            </p:extLst>
          </p:nvPr>
        </p:nvGraphicFramePr>
        <p:xfrm>
          <a:off x="993648" y="2140846"/>
          <a:ext cx="10204704" cy="4488555"/>
        </p:xfrm>
        <a:graphic>
          <a:graphicData uri="http://schemas.openxmlformats.org/drawingml/2006/table">
            <a:tbl>
              <a:tblPr/>
              <a:tblGrid>
                <a:gridCol w="3401568">
                  <a:extLst>
                    <a:ext uri="{9D8B030D-6E8A-4147-A177-3AD203B41FA5}">
                      <a16:colId xmlns:a16="http://schemas.microsoft.com/office/drawing/2014/main" val="1114632686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1054665503"/>
                    </a:ext>
                  </a:extLst>
                </a:gridCol>
                <a:gridCol w="3401568">
                  <a:extLst>
                    <a:ext uri="{9D8B030D-6E8A-4147-A177-3AD203B41FA5}">
                      <a16:colId xmlns:a16="http://schemas.microsoft.com/office/drawing/2014/main" val="1589884074"/>
                    </a:ext>
                  </a:extLst>
                </a:gridCol>
              </a:tblGrid>
              <a:tr h="429378">
                <a:tc>
                  <a:txBody>
                    <a:bodyPr/>
                    <a:lstStyle/>
                    <a:p>
                      <a:pPr algn="ctr"/>
                      <a:r>
                        <a:rPr lang="es-419" sz="1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Conjunto de Datos</a:t>
                      </a: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¿Qué Contiene? (Filas x Columnas)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6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Variables Clave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846446"/>
                  </a:ext>
                </a:extLst>
              </a:tr>
              <a:tr h="748093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Calendario (matches.csv)</a:t>
                      </a:r>
                      <a:endParaRPr lang="es-419" sz="10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104 partidos programados (8 columnas)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Equipos (local/visitante), fase del torneo, sede, fecha.</a:t>
                      </a:r>
                    </a:p>
                  </a:txBody>
                  <a:tcPr marL="85825" marR="5149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43484"/>
                  </a:ext>
                </a:extLst>
              </a:tr>
              <a:tr h="907449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Equipos (teams.csv</a:t>
                      </a:r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48 selecciones (5 columnas)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Nombre del equipo, grupo asignado, si es un clasificado directo o un "</a:t>
                      </a:r>
                      <a:r>
                        <a:rPr lang="es-419" sz="1000" b="0" dirty="0" err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placeholder</a:t>
                      </a:r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" de playoff.</a:t>
                      </a:r>
                    </a:p>
                  </a:txBody>
                  <a:tcPr marL="85825" marR="5149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060301"/>
                  </a:ext>
                </a:extLst>
              </a:tr>
              <a:tr h="588736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Sedes (host_cities.csv)</a:t>
                      </a:r>
                      <a:endParaRPr lang="es-419" sz="10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16 ciudades anfitrionas (5 columnas)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Ciudad, país, estadio, región geográfica (Este/Central/Oeste).</a:t>
                      </a:r>
                    </a:p>
                  </a:txBody>
                  <a:tcPr marL="85825" marR="5149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44618"/>
                  </a:ext>
                </a:extLst>
              </a:tr>
              <a:tr h="1066806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Rendimiento 2025 (team_stats_2025.csv)</a:t>
                      </a:r>
                      <a:endParaRPr lang="es-419" sz="10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48 registros de rendimiento (9 columnas)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Núcleo del análisis:</a:t>
                      </a:r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 Ranking FIFA, partidos jugados, ganados, perdidos, goles a favor y en contra durante 2025.</a:t>
                      </a:r>
                    </a:p>
                  </a:txBody>
                  <a:tcPr marL="85825" marR="5149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904410"/>
                  </a:ext>
                </a:extLst>
              </a:tr>
              <a:tr h="748093">
                <a:tc>
                  <a:txBody>
                    <a:bodyPr/>
                    <a:lstStyle/>
                    <a:p>
                      <a:pPr algn="ctr"/>
                      <a:r>
                        <a:rPr lang="es-419" sz="1000" b="1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Datos Demográficos (API)</a:t>
                      </a:r>
                      <a:endParaRPr lang="es-419" sz="1000" b="0" dirty="0">
                        <a:solidFill>
                          <a:schemeClr val="bg1"/>
                        </a:solidFill>
                        <a:effectLst/>
                        <a:latin typeface="quote-cjk-patch"/>
                      </a:endParaRPr>
                    </a:p>
                  </a:txBody>
                  <a:tcPr marL="5149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Integrado al </a:t>
                      </a:r>
                      <a:r>
                        <a:rPr lang="es-419" sz="1000" b="0" dirty="0" err="1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dataset</a:t>
                      </a:r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 de rendimiento</a:t>
                      </a:r>
                    </a:p>
                  </a:txBody>
                  <a:tcPr marL="85825" marR="8582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sz="1000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Población del país, continente (para agrupar por confederación).</a:t>
                      </a:r>
                    </a:p>
                  </a:txBody>
                  <a:tcPr marL="85825" marR="51495" marT="53641" marB="536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591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124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0E1F-664A-472D-9317-96CE8BF39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Las Preguntas que Guían Nuestro Análisis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8A2DE-4534-474F-B606-53A6CD435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419" b="1" dirty="0"/>
              <a:t>Hipótesis a Validar:</a:t>
            </a:r>
            <a:endParaRPr lang="es-419" dirty="0"/>
          </a:p>
          <a:p>
            <a:pPr lvl="1"/>
            <a:r>
              <a:rPr lang="es-419" b="1" dirty="0"/>
              <a:t>1:</a:t>
            </a:r>
            <a:r>
              <a:rPr lang="es-419" dirty="0"/>
              <a:t> El ranking FIFA es un reflejo fiel del rendimiento: los equipos mejor </a:t>
            </a:r>
            <a:r>
              <a:rPr lang="es-419" dirty="0" err="1"/>
              <a:t>rankeados</a:t>
            </a:r>
            <a:r>
              <a:rPr lang="es-419" dirty="0"/>
              <a:t> ganan más partidos.</a:t>
            </a:r>
          </a:p>
          <a:p>
            <a:pPr lvl="1"/>
            <a:r>
              <a:rPr lang="es-419" b="1" dirty="0"/>
              <a:t>2:</a:t>
            </a:r>
            <a:r>
              <a:rPr lang="es-419" dirty="0"/>
              <a:t> Ser país anfitrión (México, EE.UU., Canadá) otorga una ventaja competitiva real.</a:t>
            </a:r>
          </a:p>
          <a:p>
            <a:pPr lvl="1"/>
            <a:r>
              <a:rPr lang="es-419" b="1" dirty="0"/>
              <a:t>3:</a:t>
            </a:r>
            <a:r>
              <a:rPr lang="es-419" dirty="0"/>
              <a:t> El tamaño de la población de un país está correlacionado con su éxito futbolístico.</a:t>
            </a:r>
          </a:p>
          <a:p>
            <a:pPr lvl="1"/>
            <a:r>
              <a:rPr lang="es-419" b="1" dirty="0"/>
              <a:t>4:</a:t>
            </a:r>
            <a:r>
              <a:rPr lang="es-419" dirty="0"/>
              <a:t> El nivel de juego varía drásticamente entre confederaciones (UEFA vs. el resto).</a:t>
            </a:r>
          </a:p>
          <a:p>
            <a:r>
              <a:rPr lang="es-419" b="1" dirty="0"/>
              <a:t>Preguntas Específicas a Responder:</a:t>
            </a:r>
            <a:endParaRPr lang="es-419" dirty="0"/>
          </a:p>
          <a:p>
            <a:pPr lvl="1"/>
            <a:r>
              <a:rPr lang="es-419" dirty="0"/>
              <a:t>¿Qué selecciones son las más prometedores ofensiva y defensivamente?</a:t>
            </a:r>
          </a:p>
          <a:p>
            <a:pPr lvl="1"/>
            <a:r>
              <a:rPr lang="es-419" dirty="0"/>
              <a:t>¿Cuáles son los grupos más competitivos del torneo ("grupos de la muerte")?</a:t>
            </a:r>
          </a:p>
          <a:p>
            <a:pPr lvl="1"/>
            <a:r>
              <a:rPr lang="es-419" dirty="0"/>
              <a:t>¿Cómo se distribuye la infraestructura (sedes) entre los países anfitriones?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93492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B765-C292-4075-B406-0B7E8BA0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3816"/>
            <a:ext cx="10515600" cy="876872"/>
          </a:xfrm>
        </p:spPr>
        <p:txBody>
          <a:bodyPr>
            <a:normAutofit fontScale="90000"/>
          </a:bodyPr>
          <a:lstStyle/>
          <a:p>
            <a:r>
              <a:rPr lang="es-419" b="1" dirty="0"/>
              <a:t>  		El Panorama Ofensivo y Defensivo</a:t>
            </a:r>
            <a:br>
              <a:rPr lang="es-419" b="1" dirty="0"/>
            </a:br>
            <a:r>
              <a:rPr lang="es-419" sz="2700" b="1" dirty="0"/>
              <a:t>Grafico:</a:t>
            </a:r>
            <a:br>
              <a:rPr lang="es-419" b="1" dirty="0"/>
            </a:br>
            <a:endParaRPr lang="es-419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67715F-0FB1-460B-8395-D035A78EEC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032" y="1407224"/>
            <a:ext cx="8942832" cy="4531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204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49DA2-2FDC-469B-A3B0-6F3EA4F36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2243"/>
            <a:ext cx="10515600" cy="5165757"/>
          </a:xfrm>
        </p:spPr>
        <p:txBody>
          <a:bodyPr/>
          <a:lstStyle/>
          <a:p>
            <a:r>
              <a:rPr lang="es-419" b="1" dirty="0"/>
              <a:t>Análisis Clave:</a:t>
            </a:r>
            <a:endParaRPr lang="es-419" dirty="0"/>
          </a:p>
          <a:p>
            <a:pPr lvl="1"/>
            <a:r>
              <a:rPr lang="es-419" dirty="0"/>
              <a:t>El gráfico nos permite clasificar a los equipos según su desempeño reciente.</a:t>
            </a:r>
          </a:p>
          <a:p>
            <a:pPr lvl="1"/>
            <a:r>
              <a:rPr lang="es-419" b="1" dirty="0"/>
              <a:t>Cuadrante Superior Izquierdo (Alto Rendimiento):</a:t>
            </a:r>
            <a:r>
              <a:rPr lang="es-419" dirty="0"/>
              <a:t> Ubicamos a los equipos con mejor saldo de goles. </a:t>
            </a:r>
            <a:r>
              <a:rPr lang="es-419" b="1" dirty="0"/>
              <a:t>España, Argentina y Francia</a:t>
            </a:r>
            <a:r>
              <a:rPr lang="es-419" dirty="0"/>
              <a:t> destacan por su alto poder ofensivo y solidez defensiva.</a:t>
            </a:r>
          </a:p>
          <a:p>
            <a:pPr lvl="1"/>
            <a:r>
              <a:rPr lang="es-419" b="1" dirty="0"/>
              <a:t>Cuadrante Inferior Derecho (Oportunidad de Mejora):</a:t>
            </a:r>
            <a:r>
              <a:rPr lang="es-419" dirty="0"/>
              <a:t> Equipos con desafíos tanto para anotar como para defender.</a:t>
            </a:r>
          </a:p>
          <a:p>
            <a:pPr lvl="1"/>
            <a:r>
              <a:rPr lang="es-419" b="1" dirty="0"/>
              <a:t>Promedios globales:</a:t>
            </a:r>
            <a:r>
              <a:rPr lang="es-419" dirty="0"/>
              <a:t> El equipo tipo anotó </a:t>
            </a:r>
            <a:r>
              <a:rPr lang="es-419" b="1" dirty="0"/>
              <a:t>17 goles</a:t>
            </a:r>
            <a:r>
              <a:rPr lang="es-419" dirty="0"/>
              <a:t> y recibió </a:t>
            </a:r>
            <a:r>
              <a:rPr lang="es-419" b="1" dirty="0"/>
              <a:t>12</a:t>
            </a:r>
            <a:r>
              <a:rPr lang="es-419" dirty="0"/>
              <a:t> en 2025.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6979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9247B-A23B-440D-BFBD-AC5380F5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 El Peso del Ranking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11ECC-453A-41DD-BFB1-6CD784CF0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168"/>
            <a:ext cx="10515600" cy="4832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Grafico</a:t>
            </a:r>
            <a:r>
              <a:rPr lang="es-ES" sz="2400" b="1" dirty="0"/>
              <a:t>:</a:t>
            </a:r>
          </a:p>
          <a:p>
            <a:pPr marL="0" indent="0">
              <a:buNone/>
            </a:pPr>
            <a:endParaRPr lang="es-ES" sz="2400" b="1" dirty="0"/>
          </a:p>
          <a:p>
            <a:pPr marL="0" indent="0">
              <a:buNone/>
            </a:pPr>
            <a:endParaRPr lang="es-419" sz="2400" b="1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974045C-29FD-4D98-B73C-32B39971A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094" y="1742694"/>
            <a:ext cx="7934325" cy="4434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735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F26D7-24AF-41B0-BD7B-1BBDFC85D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464" y="1508760"/>
            <a:ext cx="10515600" cy="4654295"/>
          </a:xfrm>
        </p:spPr>
        <p:txBody>
          <a:bodyPr/>
          <a:lstStyle/>
          <a:p>
            <a:r>
              <a:rPr lang="es-419" b="1" dirty="0"/>
              <a:t>Hallazgo:</a:t>
            </a:r>
            <a:endParaRPr lang="es-419" dirty="0"/>
          </a:p>
          <a:p>
            <a:pPr lvl="1"/>
            <a:endParaRPr lang="es-419" dirty="0"/>
          </a:p>
          <a:p>
            <a:pPr lvl="1"/>
            <a:r>
              <a:rPr lang="es-419" dirty="0"/>
              <a:t>La evidencia es contundente. Los equipos del </a:t>
            </a:r>
            <a:r>
              <a:rPr lang="es-419" b="1" dirty="0"/>
              <a:t>Top 10 del ranking</a:t>
            </a:r>
            <a:r>
              <a:rPr lang="es-419" dirty="0"/>
              <a:t> ganaron, en promedio, </a:t>
            </a:r>
            <a:r>
              <a:rPr lang="es-419" b="1" dirty="0"/>
              <a:t>7.6 partidos</a:t>
            </a:r>
            <a:r>
              <a:rPr lang="es-419" dirty="0"/>
              <a:t> durante 2025.</a:t>
            </a:r>
          </a:p>
          <a:p>
            <a:pPr lvl="1"/>
            <a:r>
              <a:rPr lang="es-419" dirty="0"/>
              <a:t>Esta cifra es significativamente superior a los </a:t>
            </a:r>
            <a:r>
              <a:rPr lang="es-419" b="1" dirty="0"/>
              <a:t>4.8 partidos</a:t>
            </a:r>
            <a:r>
              <a:rPr lang="es-419" dirty="0"/>
              <a:t> que ganó el resto de los equipos clasificados.</a:t>
            </a:r>
          </a:p>
          <a:p>
            <a:pPr lvl="1"/>
            <a:r>
              <a:rPr lang="es-419" b="1" dirty="0"/>
              <a:t>Conclusión:</a:t>
            </a:r>
            <a:r>
              <a:rPr lang="es-419" dirty="0"/>
              <a:t> El ranking no es solo un número; es un excelente indicador del rendimiento reciente de una selección.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694650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46392-7AC2-4524-89CD-9B44B8E9D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La Ventaja de ser Local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941BA-84BA-4953-9D9A-659F6C066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419" b="1" dirty="0"/>
              <a:t>Hallazgo:</a:t>
            </a:r>
            <a:endParaRPr lang="es-419" dirty="0"/>
          </a:p>
          <a:p>
            <a:pPr lvl="1"/>
            <a:r>
              <a:rPr lang="es-419" dirty="0"/>
              <a:t>Los países anfitriones (México, EE.UU., Canadá) promediaron </a:t>
            </a:r>
            <a:r>
              <a:rPr lang="es-419" b="1" dirty="0"/>
              <a:t>6.0 victorias</a:t>
            </a:r>
            <a:r>
              <a:rPr lang="es-419" dirty="0"/>
              <a:t> en 2025.</a:t>
            </a:r>
          </a:p>
          <a:p>
            <a:pPr lvl="1"/>
            <a:r>
              <a:rPr lang="es-419" dirty="0"/>
              <a:t>Este promedio supera la media del resto de los equipos clasificados (4.8).</a:t>
            </a:r>
          </a:p>
          <a:p>
            <a:pPr lvl="1"/>
            <a:r>
              <a:rPr lang="es-419" b="1" dirty="0"/>
              <a:t>Conclusión:</a:t>
            </a:r>
            <a:r>
              <a:rPr lang="es-419" dirty="0"/>
              <a:t> </a:t>
            </a:r>
            <a:r>
              <a:rPr lang="es-419" b="1" dirty="0"/>
              <a:t>Hipótesis Confirmada.</a:t>
            </a:r>
            <a:r>
              <a:rPr lang="es-419" dirty="0"/>
              <a:t> La planificación, la clasificación automática y el apoyo de la afición local parecen traducirse en una ventaja competitiva medible en el campo de juego.</a:t>
            </a:r>
          </a:p>
        </p:txBody>
      </p:sp>
    </p:spTree>
    <p:extLst>
      <p:ext uri="{BB962C8B-B14F-4D97-AF65-F5344CB8AC3E}">
        <p14:creationId xmlns:p14="http://schemas.microsoft.com/office/powerpoint/2010/main" val="3944360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5CEF3-BEFA-4163-9556-413AF44F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El Factor Población</a:t>
            </a:r>
            <a:br>
              <a:rPr lang="es-419" b="1" dirty="0"/>
            </a:br>
            <a:endParaRPr lang="es-419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D18656-9D98-485E-BF7E-E21E32E33D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6621859"/>
              </p:ext>
            </p:extLst>
          </p:nvPr>
        </p:nvGraphicFramePr>
        <p:xfrm>
          <a:off x="2340798" y="1324928"/>
          <a:ext cx="7162932" cy="2788920"/>
        </p:xfrm>
        <a:graphic>
          <a:graphicData uri="http://schemas.openxmlformats.org/drawingml/2006/table">
            <a:tbl>
              <a:tblPr/>
              <a:tblGrid>
                <a:gridCol w="2387644">
                  <a:extLst>
                    <a:ext uri="{9D8B030D-6E8A-4147-A177-3AD203B41FA5}">
                      <a16:colId xmlns:a16="http://schemas.microsoft.com/office/drawing/2014/main" val="1462744696"/>
                    </a:ext>
                  </a:extLst>
                </a:gridCol>
                <a:gridCol w="2387644">
                  <a:extLst>
                    <a:ext uri="{9D8B030D-6E8A-4147-A177-3AD203B41FA5}">
                      <a16:colId xmlns:a16="http://schemas.microsoft.com/office/drawing/2014/main" val="628134310"/>
                    </a:ext>
                  </a:extLst>
                </a:gridCol>
                <a:gridCol w="2387644">
                  <a:extLst>
                    <a:ext uri="{9D8B030D-6E8A-4147-A177-3AD203B41FA5}">
                      <a16:colId xmlns:a16="http://schemas.microsoft.com/office/drawing/2014/main" val="1048770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País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Ranking FIFA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Población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77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Brasil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213 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766713"/>
                  </a:ext>
                </a:extLst>
              </a:tr>
              <a:tr h="261556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México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16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130 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326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Japón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123 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5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Egipto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34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107 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40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Alemania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419" b="0" dirty="0">
                          <a:solidFill>
                            <a:schemeClr val="bg1"/>
                          </a:solidFill>
                          <a:effectLst/>
                          <a:latin typeface="quote-cjk-patch"/>
                        </a:rPr>
                        <a:t>83 M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515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33058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C7269D8-EAAA-467F-8D9C-06EFC4D643C2}"/>
              </a:ext>
            </a:extLst>
          </p:cNvPr>
          <p:cNvSpPr/>
          <p:nvPr/>
        </p:nvSpPr>
        <p:spPr>
          <a:xfrm>
            <a:off x="685800" y="4287858"/>
            <a:ext cx="10515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419" dirty="0"/>
              <a:t>Se encontró una </a:t>
            </a:r>
            <a:r>
              <a:rPr lang="es-419" b="1" dirty="0"/>
              <a:t>correlación débil (-0.29)</a:t>
            </a:r>
            <a:r>
              <a:rPr lang="es-419" dirty="0"/>
              <a:t> entre población y ranking.</a:t>
            </a:r>
          </a:p>
          <a:p>
            <a:endParaRPr lang="es-419" dirty="0"/>
          </a:p>
          <a:p>
            <a:r>
              <a:rPr lang="es-419" b="1" dirty="0"/>
              <a:t>Conclusión:</a:t>
            </a:r>
            <a:r>
              <a:rPr lang="es-419" dirty="0"/>
              <a:t> </a:t>
            </a:r>
            <a:r>
              <a:rPr lang="es-419" b="1" dirty="0"/>
              <a:t>Hipótesis Parcialmente Confirmada:</a:t>
            </a:r>
            <a:r>
              <a:rPr lang="es-419" dirty="0"/>
              <a:t> </a:t>
            </a:r>
          </a:p>
          <a:p>
            <a:r>
              <a:rPr lang="es-419" dirty="0"/>
              <a:t>	Si bien países muy poblados como Brasil tienen excelentes 	rankings, países como Uruguay o Croacia 	(no en la tabla) demuestran que una población grande no es una condición necesaria ni suficiente 	para el éxito. El talento y la estructura deportiva pesan más.</a:t>
            </a:r>
          </a:p>
          <a:p>
            <a:pPr>
              <a:buFont typeface="Arial" panose="020B0604020202020204" pitchFamily="34" charset="0"/>
              <a:buChar char="•"/>
            </a:pPr>
            <a:endParaRPr lang="es-419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75629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93A0-440A-4958-8C0A-2EEDB00B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El Dominio por Confederación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166A-7F06-46E3-BDCE-E90ACDF6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896" y="1143662"/>
            <a:ext cx="10515600" cy="4434813"/>
          </a:xfrm>
        </p:spPr>
        <p:txBody>
          <a:bodyPr>
            <a:normAutofit/>
          </a:bodyPr>
          <a:lstStyle/>
          <a:p>
            <a:r>
              <a:rPr lang="es-419" sz="2400" dirty="0"/>
              <a:t>Gráfico: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3600E22-6081-4D47-9A45-507E842F7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21" y="1449768"/>
            <a:ext cx="7524750" cy="475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409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45D05-BFE5-4E16-8195-B7A84B93B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5545"/>
            <a:ext cx="10515600" cy="4351338"/>
          </a:xfrm>
        </p:spPr>
        <p:txBody>
          <a:bodyPr/>
          <a:lstStyle/>
          <a:p>
            <a:r>
              <a:rPr lang="es-419" dirty="0"/>
              <a:t>La </a:t>
            </a:r>
            <a:r>
              <a:rPr lang="es-419" b="1" dirty="0"/>
              <a:t>UEFA (Europa)</a:t>
            </a:r>
            <a:r>
              <a:rPr lang="es-419" dirty="0"/>
              <a:t> tiene el mejor ranking promedio (11.7), confirmando su profundidad y competitividad.</a:t>
            </a:r>
          </a:p>
          <a:p>
            <a:r>
              <a:rPr lang="es-419" dirty="0"/>
              <a:t>La </a:t>
            </a:r>
            <a:r>
              <a:rPr lang="es-419" b="1" dirty="0"/>
              <a:t>CONMEBOL (Sudamérica)</a:t>
            </a:r>
            <a:r>
              <a:rPr lang="es-419" dirty="0"/>
              <a:t> le sigue de cerca (16.5), con equipos de muy alto nivel, aunque con menos participantes.</a:t>
            </a:r>
          </a:p>
          <a:p>
            <a:r>
              <a:rPr lang="es-419" dirty="0"/>
              <a:t>Las confederaciones de </a:t>
            </a:r>
            <a:r>
              <a:rPr lang="es-419" b="1" dirty="0"/>
              <a:t>África (CAF), Asia (AFC) y Norteamérica (CONCACAF)</a:t>
            </a:r>
            <a:r>
              <a:rPr lang="es-419" dirty="0"/>
              <a:t> muestran rankings promedio significativamente más altos (peores), reflejando una brecha competitiva real con las potencias tradicionales.</a:t>
            </a:r>
          </a:p>
        </p:txBody>
      </p:sp>
    </p:spTree>
    <p:extLst>
      <p:ext uri="{BB962C8B-B14F-4D97-AF65-F5344CB8AC3E}">
        <p14:creationId xmlns:p14="http://schemas.microsoft.com/office/powerpoint/2010/main" val="1279878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21DA-8404-4746-A535-ED4DA3FEB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b="1" dirty="0"/>
              <a:t>		Los Grupos Más Competitivos</a:t>
            </a:r>
            <a:br>
              <a:rPr lang="es-419" b="1" dirty="0"/>
            </a:br>
            <a:br>
              <a:rPr lang="es-419" b="1" dirty="0"/>
            </a:br>
            <a:r>
              <a:rPr lang="es-419" sz="2400" b="1" dirty="0"/>
              <a:t>Grafico:</a:t>
            </a:r>
            <a:endParaRPr lang="es-419" sz="24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A32E2FB8-82AE-4DE2-9C7C-848F8EE562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474" y="1825625"/>
            <a:ext cx="876905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4405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00F1-2D82-4BB7-8F30-0ACBDDC6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033"/>
            <a:ext cx="10515600" cy="4351338"/>
          </a:xfrm>
        </p:spPr>
        <p:txBody>
          <a:bodyPr/>
          <a:lstStyle/>
          <a:p>
            <a:r>
              <a:rPr lang="es-419" dirty="0"/>
              <a:t>Al calcular el ranking promedio de los equipos en cada grupo, podemos identificar los más difíciles.</a:t>
            </a:r>
          </a:p>
          <a:p>
            <a:r>
              <a:rPr lang="es-419" dirty="0"/>
              <a:t>Los grupos con el ranking promedio más bajo (mejor) son los que prometen una fase inicial más disputada.</a:t>
            </a:r>
          </a:p>
          <a:p>
            <a:r>
              <a:rPr lang="es-419" b="1" dirty="0"/>
              <a:t>Grupos a Seguir de Cerca:</a:t>
            </a:r>
            <a:r>
              <a:rPr lang="es-419" dirty="0"/>
              <a:t> </a:t>
            </a:r>
            <a:r>
              <a:rPr lang="es-419" b="1" dirty="0"/>
              <a:t>E </a:t>
            </a:r>
            <a:r>
              <a:rPr lang="es-419" b="1" dirty="0" err="1"/>
              <a:t>e</a:t>
            </a:r>
            <a:r>
              <a:rPr lang="es-419" b="1" dirty="0"/>
              <a:t> I</a:t>
            </a:r>
            <a:r>
              <a:rPr lang="es-419" dirty="0"/>
              <a:t> concentran a los equipos con el mejor ranking promedio. Cualquiera de estos grupos tiene el potencial de ser el "grupo de la muerte".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14806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E97B6-784A-4920-9DF6-58CA21FD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err="1"/>
              <a:t>Insights</a:t>
            </a:r>
            <a:r>
              <a:rPr lang="es-419" b="1" dirty="0"/>
              <a:t> y Conclusiones Finales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2844A-8D47-446F-9825-4A8D8FD66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 fontScale="92500"/>
          </a:bodyPr>
          <a:lstStyle/>
          <a:p>
            <a:r>
              <a:rPr lang="es-419" b="1" dirty="0"/>
              <a:t>Sobre el Rendimiento Deportivo:</a:t>
            </a:r>
            <a:endParaRPr lang="es-419" dirty="0"/>
          </a:p>
          <a:p>
            <a:pPr lvl="1"/>
            <a:r>
              <a:rPr lang="es-419" b="1" dirty="0"/>
              <a:t>El Ranking es un Termómetro Fiable:</a:t>
            </a:r>
            <a:r>
              <a:rPr lang="es-419" dirty="0"/>
              <a:t> Los equipos del Top 10 (España, Argentina, Francia, etc.) son los que mejor rendimiento mostraron en 2025. Son los favoritos naturales.</a:t>
            </a:r>
          </a:p>
          <a:p>
            <a:pPr lvl="1"/>
            <a:r>
              <a:rPr lang="es-419" b="1" dirty="0"/>
              <a:t>La Localía es una Ventaja Real:</a:t>
            </a:r>
            <a:r>
              <a:rPr lang="es-419" dirty="0"/>
              <a:t> México, EE.UU. y Canadá no solo son anfitriones, sino que su rendimiento en 2025 los coloca en una posición de privilegio.</a:t>
            </a:r>
          </a:p>
          <a:p>
            <a:pPr lvl="1"/>
            <a:r>
              <a:rPr lang="es-419" b="1" dirty="0"/>
              <a:t>Europa y Sudamérica Marcan la Pauta:</a:t>
            </a:r>
            <a:r>
              <a:rPr lang="es-419" dirty="0"/>
              <a:t> La superioridad de la UEFA y CONMEBOL en ranking es un hecho estadístico que define la estructura de poder del fútbol mundial.</a:t>
            </a:r>
          </a:p>
          <a:p>
            <a:r>
              <a:rPr lang="es-419" b="1" dirty="0"/>
              <a:t>Implicaciones para el Torneo:</a:t>
            </a:r>
            <a:endParaRPr lang="es-419" dirty="0"/>
          </a:p>
          <a:p>
            <a:pPr lvl="1"/>
            <a:r>
              <a:rPr lang="es-419" dirty="0"/>
              <a:t>Los grupos </a:t>
            </a:r>
            <a:r>
              <a:rPr lang="es-419" b="1" dirty="0"/>
              <a:t>E </a:t>
            </a:r>
            <a:r>
              <a:rPr lang="es-419" b="1" dirty="0" err="1"/>
              <a:t>e</a:t>
            </a:r>
            <a:r>
              <a:rPr lang="es-419" b="1" dirty="0"/>
              <a:t> I</a:t>
            </a:r>
            <a:r>
              <a:rPr lang="es-419" dirty="0"/>
              <a:t> prometen ser los más emocionantes y reñidos desde la primera fase.</a:t>
            </a:r>
          </a:p>
          <a:p>
            <a:pPr lvl="1"/>
            <a:r>
              <a:rPr lang="es-419" dirty="0"/>
              <a:t>El rendimiento ofensivo y defensivo de 2025 sugiere que </a:t>
            </a:r>
            <a:r>
              <a:rPr lang="es-419" b="1" dirty="0"/>
              <a:t>España, Argentina, Francia e Inglaterra</a:t>
            </a:r>
            <a:r>
              <a:rPr lang="es-419" dirty="0"/>
              <a:t> son las selecciones a vencer.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45218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91DF3-C745-4B80-A646-B050D2AE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/>
              <a:t>Próximos Pasos</a:t>
            </a:r>
            <a:br>
              <a:rPr lang="es-419" b="1" dirty="0"/>
            </a:br>
            <a:endParaRPr lang="es-419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682C5-6549-4DB5-8F1A-AA90DBB8F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3624"/>
            <a:ext cx="10515600" cy="4613339"/>
          </a:xfrm>
        </p:spPr>
        <p:txBody>
          <a:bodyPr/>
          <a:lstStyle/>
          <a:p>
            <a:r>
              <a:rPr lang="es-419" b="1" dirty="0"/>
              <a:t>Análisis Futuros Propuestos:</a:t>
            </a:r>
            <a:endParaRPr lang="es-419" dirty="0"/>
          </a:p>
          <a:p>
            <a:pPr lvl="1"/>
            <a:r>
              <a:rPr lang="es-419" b="1" dirty="0"/>
              <a:t>Modelo Predictivo:</a:t>
            </a:r>
            <a:r>
              <a:rPr lang="es-419" dirty="0"/>
              <a:t> Desarrollar un modelo de Machine </a:t>
            </a:r>
            <a:r>
              <a:rPr lang="es-419" dirty="0" err="1"/>
              <a:t>Learning</a:t>
            </a:r>
            <a:r>
              <a:rPr lang="es-419" dirty="0"/>
              <a:t> para simular el torneo y calcular probabilidades de avance y campeonato.</a:t>
            </a:r>
          </a:p>
          <a:p>
            <a:pPr lvl="1"/>
            <a:r>
              <a:rPr lang="es-419" b="1" dirty="0"/>
              <a:t>Impacto de la Logística:</a:t>
            </a:r>
            <a:r>
              <a:rPr lang="es-419" dirty="0"/>
              <a:t> Analizar cómo la distribución de las sedes (y los consiguientes viajes) podría afectar el rendimiento de los equipos.</a:t>
            </a:r>
          </a:p>
          <a:p>
            <a:pPr lvl="1"/>
            <a:r>
              <a:rPr lang="es-419" b="1" dirty="0"/>
              <a:t>Análisis de Redes Sociales:</a:t>
            </a:r>
            <a:r>
              <a:rPr lang="es-419" dirty="0"/>
              <a:t> Correlacionar el rendimiento con el sentimiento y la conversación digital en torno a cada selección.</a:t>
            </a:r>
          </a:p>
          <a:p>
            <a:endParaRPr lang="es-419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41E264-991A-4B54-AD64-340E7EA40CCE}"/>
              </a:ext>
            </a:extLst>
          </p:cNvPr>
          <p:cNvSpPr txBox="1">
            <a:spLocks/>
          </p:cNvSpPr>
          <p:nvPr/>
        </p:nvSpPr>
        <p:spPr>
          <a:xfrm>
            <a:off x="408432" y="4651121"/>
            <a:ext cx="10515600" cy="2206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419"/>
          </a:p>
          <a:p>
            <a:pPr lvl="1"/>
            <a:r>
              <a:rPr lang="es-419"/>
              <a:t>El código y el análisis completo están disponibles en mi GitHub: [</a:t>
            </a:r>
            <a:r>
              <a:rPr lang="es-419" b="1"/>
              <a:t>https://github.com/ddopazo92/Introduccion_datascience_diego_dopazo/blob/ciencia-de-datos-II/PROYECTO-DOPAZODIEGO.ipynb</a:t>
            </a:r>
            <a:r>
              <a:rPr lang="es-419"/>
              <a:t>]</a:t>
            </a:r>
            <a:br>
              <a:rPr lang="es-419"/>
            </a:b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16436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1274</Words>
  <Application>Microsoft Office PowerPoint</Application>
  <PresentationFormat>Widescreen</PresentationFormat>
  <Paragraphs>106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quote-cjk-patch</vt:lpstr>
      <vt:lpstr>Office Theme</vt:lpstr>
      <vt:lpstr>MUNDIAL 2026:  Un análisis de datos sobre el rendimiento de las selecciones previo al torneo</vt:lpstr>
      <vt:lpstr>¿Por qué este análisis y para quién?</vt:lpstr>
      <vt:lpstr>Resumen de la Metadata </vt:lpstr>
      <vt:lpstr>Las Preguntas que Guían Nuestro Análisis</vt:lpstr>
      <vt:lpstr>    El Panorama Ofensivo y Defensivo Grafico: </vt:lpstr>
      <vt:lpstr>PowerPoint Presentation</vt:lpstr>
      <vt:lpstr> El Peso del Ranking </vt:lpstr>
      <vt:lpstr>PowerPoint Presentation</vt:lpstr>
      <vt:lpstr>La Ventaja de ser Local </vt:lpstr>
      <vt:lpstr>El Factor Población </vt:lpstr>
      <vt:lpstr>El Dominio por Confederación </vt:lpstr>
      <vt:lpstr>PowerPoint Presentation</vt:lpstr>
      <vt:lpstr>  Los Grupos Más Competitivos  Grafico:</vt:lpstr>
      <vt:lpstr>PowerPoint Presentation</vt:lpstr>
      <vt:lpstr>Insights y Conclusiones Finales </vt:lpstr>
      <vt:lpstr>Próximos Pasos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MUNDIAL 2026:  Un análisis de datos sobre el rendimiento de las selecciones previo al torneo</dc:title>
  <dc:creator>Diego Dopazo</dc:creator>
  <cp:lastModifiedBy>Diego Dopazo</cp:lastModifiedBy>
  <cp:revision>5</cp:revision>
  <dcterms:created xsi:type="dcterms:W3CDTF">2026-03-02T22:49:48Z</dcterms:created>
  <dcterms:modified xsi:type="dcterms:W3CDTF">2026-03-02T23:24:24Z</dcterms:modified>
</cp:coreProperties>
</file>