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6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DBD2-730F-4E71-AA49-09C84B8CE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F5B36-D71E-49BB-A33E-CC7A6F323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FDEE6-65F8-45D8-8AB4-01901ED1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5792E-8E47-4C10-9BC7-08C135A8D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C1C8B-5703-43E5-A4C6-A1AC2601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78648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95CCA-D972-44B8-B0BA-93393D86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95D2D-EA17-4E13-A5A3-B58B23FA7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ADFF6-8908-41BC-8F3C-DE89C154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CCE79-5626-4C0B-B630-A06099D6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DD96B-F1E5-4E47-9B39-5D15585CD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0433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138D-C5BF-4DF6-979C-6BE0C96D5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AD399-9442-466F-96BA-3732FD245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9082-E923-46EA-B57B-78DB9BF86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F02E6-53E8-466A-8796-C8B9B435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B99F3-C615-4818-BB8D-AB40DB569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1055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767C2-BEF6-4296-A0D4-A41DE872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7AF42-EBF3-4BC7-A12D-8D7A746C9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D280C-6361-402D-9112-516C0BA04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DF68A-459D-46BC-A287-7FE58A86C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E0B9A-BE25-44D1-B8B0-42940EDB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AE29E-0B11-49E5-9D3F-578459FC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01847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1157-F300-4B7F-8105-F5C32CFA6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86E88-507C-453A-AED5-FA7C53E7C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B09DC-4065-4781-A7D2-9B88F816B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A8776D-6AC7-43BE-8422-AFAF0758E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4320C1-AB50-4F98-9C02-1609FC802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427D2D-32D2-4D60-8ED4-2E47B50EB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1B514-6554-48F6-A540-906F1264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100160-62AC-4BCB-8226-11A04C54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15962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2FB8-5E51-4B1C-AAC2-D7125869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DF466-D65D-4321-BEA7-18522914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31C30-798B-42BF-BBD6-0912F5FDE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E604F-1E37-4A81-86CF-72965837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1450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FFFB7-3A75-4489-AF86-F4920A2DF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5D0B38-326C-493D-AC02-1E6866B7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6FEA8-2713-424A-AB8A-EEC7EBCB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6943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0B34-761A-4AE8-A5F3-A3C052D50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B125E-1C05-448E-9FA1-2BA02F946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CEEA9-F804-4348-AF05-0EF87416E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77CD1-E6A6-407F-8356-33B31258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8CF98-AD8C-4D32-A11B-2D498F27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7A98-98B1-4C8F-9466-BF5446350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922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6249-51C9-4C10-B008-02842594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D2981-0320-47CC-A15A-FFF512843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CF792-0D4B-461A-8D8D-DA446A4F5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09701-AAAC-4540-9B5F-9A5123B5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01C8-A19F-4B10-A524-AF2BD1B51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FB910-C0F4-40E2-AD8A-AFCF9BE9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2195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9E7B-2377-466C-9F20-1C271C40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5A1FD-6F45-476A-8832-540A033C6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18D94-CB1C-4054-86C2-F0DB78E44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8261F-C736-447D-90AA-630A9453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9BA80-19F1-4018-A761-013A5348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6273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81A982-E40B-4B96-A0C1-C2A1264FA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08B72-3805-41D9-BBFC-1395E9373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C93E2-E6F8-4D99-B4DE-F0FFC160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B00C8-7FD3-40E5-9B58-768BF582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2434B-8E26-43CA-9255-A22A630E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01714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18F60-1995-4B39-9BB3-F4D334740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365D4-88DF-480C-9702-BCADFEC27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4392-880A-4809-818F-CDBECB719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E6C3E-FFC4-4DD3-B7EA-CE5604318D52}" type="datetimeFigureOut">
              <a:rPr lang="es-419" smtClean="0"/>
              <a:t>30/4/2026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604F6-4BA8-4156-BD8D-6F5F1B03F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3AB5A-BA95-4AC3-B834-E3B2E8A8A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4AFC2-0E79-401E-80E0-A465D3A26BF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4749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325B-4628-4427-BB12-996824F28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0052" y="1326886"/>
            <a:ext cx="8311896" cy="1107042"/>
          </a:xfrm>
        </p:spPr>
        <p:txBody>
          <a:bodyPr>
            <a:normAutofit fontScale="90000"/>
          </a:bodyPr>
          <a:lstStyle/>
          <a:p>
            <a:br>
              <a:rPr lang="es-419" dirty="0"/>
            </a:br>
            <a:r>
              <a:rPr lang="es-419" sz="4400" dirty="0"/>
              <a:t> </a:t>
            </a:r>
            <a:r>
              <a:rPr lang="es-419" sz="3600" dirty="0"/>
              <a:t>Un análisis de datos sobre el rendimiento de las selecciones previo al torneo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F919C-3E03-420B-BF95-8E5205EF2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07608"/>
            <a:ext cx="9144000" cy="603504"/>
          </a:xfrm>
        </p:spPr>
        <p:txBody>
          <a:bodyPr>
            <a:normAutofit lnSpcReduction="10000"/>
          </a:bodyPr>
          <a:lstStyle/>
          <a:p>
            <a:r>
              <a:rPr lang="es-ES" sz="4000" dirty="0"/>
              <a:t>AUTOR</a:t>
            </a:r>
            <a:r>
              <a:rPr lang="es-ES" dirty="0"/>
              <a:t>: </a:t>
            </a:r>
            <a:r>
              <a:rPr lang="es-ES" sz="3600" dirty="0"/>
              <a:t>Diego Dopazo</a:t>
            </a:r>
            <a:endParaRPr lang="es-419" sz="3600" dirty="0"/>
          </a:p>
        </p:txBody>
      </p:sp>
      <p:pic>
        <p:nvPicPr>
          <p:cNvPr id="4098" name="Picture 2" descr="Concept Logo World Cup 2026">
            <a:extLst>
              <a:ext uri="{FF2B5EF4-FFF2-40B4-BE49-F238E27FC236}">
                <a16:creationId xmlns:a16="http://schemas.microsoft.com/office/drawing/2014/main" id="{12F3CEA7-4C21-4DCC-8942-BF4FEFBC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888" y="2670667"/>
            <a:ext cx="2596895" cy="310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92C3A4-8F26-48E3-A26E-4783888304E8}"/>
              </a:ext>
            </a:extLst>
          </p:cNvPr>
          <p:cNvSpPr/>
          <p:nvPr/>
        </p:nvSpPr>
        <p:spPr>
          <a:xfrm>
            <a:off x="1819656" y="382262"/>
            <a:ext cx="8211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419" sz="4000" b="1" dirty="0"/>
              <a:t>COPA MUNDIAL de la FIFA 2026</a:t>
            </a:r>
            <a:endParaRPr lang="es-419" sz="4000" dirty="0"/>
          </a:p>
        </p:txBody>
      </p:sp>
    </p:spTree>
    <p:extLst>
      <p:ext uri="{BB962C8B-B14F-4D97-AF65-F5344CB8AC3E}">
        <p14:creationId xmlns:p14="http://schemas.microsoft.com/office/powerpoint/2010/main" val="3206629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7EB23-BF14-40A3-8765-10BDEF4FC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¿Por qué este análisis y para quién?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C5687-08E8-48EF-BB11-9EED0EC2D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1846580"/>
            <a:ext cx="10515600" cy="3743071"/>
          </a:xfrm>
        </p:spPr>
        <p:txBody>
          <a:bodyPr>
            <a:normAutofit fontScale="92500"/>
          </a:bodyPr>
          <a:lstStyle/>
          <a:p>
            <a:r>
              <a:rPr lang="es-419" dirty="0"/>
              <a:t>El Mundial 2026 es el más grande de la historia: </a:t>
            </a:r>
            <a:r>
              <a:rPr lang="es-419" b="1" dirty="0"/>
              <a:t>48 selecciones, 3 países anfitriones y 104 partidos</a:t>
            </a:r>
            <a:r>
              <a:rPr lang="es-419" dirty="0"/>
              <a:t>.</a:t>
            </a:r>
          </a:p>
          <a:p>
            <a:r>
              <a:rPr lang="es-419" b="1" dirty="0"/>
              <a:t>Objetivo:</a:t>
            </a:r>
            <a:r>
              <a:rPr lang="es-419" dirty="0"/>
              <a:t> Validar (o refutar) mitos comunes del fútbol (ventaja de localía, relación ranking vs. rendimiento, etc.) usando datos, no especulación.</a:t>
            </a:r>
          </a:p>
          <a:p>
            <a:r>
              <a:rPr lang="es-419" b="1" dirty="0"/>
              <a:t>Audiencia:</a:t>
            </a:r>
            <a:endParaRPr lang="es-419" dirty="0"/>
          </a:p>
          <a:p>
            <a:r>
              <a:rPr lang="es-419" dirty="0"/>
              <a:t>Directivos y tomadores de decisiones en el ámbito deportivo.</a:t>
            </a:r>
          </a:p>
          <a:p>
            <a:r>
              <a:rPr lang="es-419" dirty="0"/>
              <a:t>Aficionados al fútbol interesados en un análisis profundo.</a:t>
            </a:r>
          </a:p>
          <a:p>
            <a:r>
              <a:rPr lang="es-419" dirty="0"/>
              <a:t>Profesionales de marketing y comunicaciones.</a:t>
            </a:r>
          </a:p>
        </p:txBody>
      </p:sp>
    </p:spTree>
    <p:extLst>
      <p:ext uri="{BB962C8B-B14F-4D97-AF65-F5344CB8AC3E}">
        <p14:creationId xmlns:p14="http://schemas.microsoft.com/office/powerpoint/2010/main" val="4206070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0E1F-664A-472D-9317-96CE8BF3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Las Preguntas que Guían Nuestro Análisis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8A2DE-4534-474F-B606-53A6CD435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9276"/>
            <a:ext cx="10515600" cy="2179447"/>
          </a:xfrm>
        </p:spPr>
        <p:txBody>
          <a:bodyPr>
            <a:normAutofit/>
          </a:bodyPr>
          <a:lstStyle/>
          <a:p>
            <a:r>
              <a:rPr lang="es-419" b="1" dirty="0"/>
              <a:t>Hipótesis a Validar:</a:t>
            </a:r>
            <a:endParaRPr lang="es-419" dirty="0"/>
          </a:p>
          <a:p>
            <a:pPr lvl="1"/>
            <a:r>
              <a:rPr lang="es-419" b="1" dirty="0"/>
              <a:t>1:</a:t>
            </a:r>
            <a:r>
              <a:rPr lang="es-419" dirty="0"/>
              <a:t> El ranking FIFA es un reflejo fiel del rendimiento: los equipos mejor </a:t>
            </a:r>
            <a:r>
              <a:rPr lang="es-419" dirty="0" err="1"/>
              <a:t>rankeados</a:t>
            </a:r>
            <a:r>
              <a:rPr lang="es-419" dirty="0"/>
              <a:t> ganan más partidos.</a:t>
            </a:r>
          </a:p>
          <a:p>
            <a:pPr lvl="1"/>
            <a:r>
              <a:rPr lang="es-419" b="1" dirty="0"/>
              <a:t>2:</a:t>
            </a:r>
            <a:r>
              <a:rPr lang="es-419" dirty="0"/>
              <a:t> El nivel de juego varía drásticamente entre confederaciones (UEFA vs. el resto).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93492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FD3-B288-467F-96DB-5D6B9FA81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0351"/>
            <a:ext cx="9144000" cy="812483"/>
          </a:xfrm>
        </p:spPr>
        <p:txBody>
          <a:bodyPr>
            <a:normAutofit/>
          </a:bodyPr>
          <a:lstStyle/>
          <a:p>
            <a:r>
              <a:rPr lang="es-419" sz="4400" b="1" dirty="0"/>
              <a:t>Construyendo el conjunto de datos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44053-2D50-4B35-9536-FA104B8A4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984" y="1618488"/>
            <a:ext cx="10162032" cy="3621024"/>
          </a:xfrm>
        </p:spPr>
        <p:txBody>
          <a:bodyPr>
            <a:normAutofit/>
          </a:bodyPr>
          <a:lstStyle/>
          <a:p>
            <a:pPr algn="l"/>
            <a:r>
              <a:rPr lang="es-419" b="1" dirty="0"/>
              <a:t>Contenido:</a:t>
            </a:r>
            <a:endParaRPr lang="es-419" dirty="0"/>
          </a:p>
          <a:p>
            <a:pPr algn="l"/>
            <a:r>
              <a:rPr lang="es-419" b="1" dirty="0"/>
              <a:t>	Fuente Principal:</a:t>
            </a:r>
            <a:endParaRPr lang="es-419" dirty="0"/>
          </a:p>
          <a:p>
            <a:pPr lvl="1" algn="l"/>
            <a:r>
              <a:rPr lang="es-419" dirty="0"/>
              <a:t>			Datos oficiales del torneo (calendario, sedes, equipos) desde </a:t>
            </a:r>
            <a:r>
              <a:rPr lang="es-419" b="1" dirty="0"/>
              <a:t>Kaggle</a:t>
            </a:r>
            <a:r>
              <a:rPr lang="es-419" dirty="0"/>
              <a:t>.</a:t>
            </a:r>
          </a:p>
          <a:p>
            <a:pPr algn="l"/>
            <a:r>
              <a:rPr lang="es-419" b="1" dirty="0"/>
              <a:t>	Enriquecimiento:</a:t>
            </a:r>
            <a:endParaRPr lang="es-419" dirty="0"/>
          </a:p>
          <a:p>
            <a:pPr lvl="1" algn="l"/>
            <a:r>
              <a:rPr lang="es-419" dirty="0"/>
              <a:t>		Estadísticas de rendimiento de </a:t>
            </a:r>
            <a:r>
              <a:rPr lang="es-419" b="1" dirty="0"/>
              <a:t>2025</a:t>
            </a:r>
            <a:r>
              <a:rPr lang="es-419" dirty="0"/>
              <a:t> (goles, victorias, etc.).</a:t>
            </a:r>
          </a:p>
          <a:p>
            <a:pPr lvl="1" algn="l"/>
            <a:r>
              <a:rPr lang="es-419" dirty="0"/>
              <a:t>		Datos demográficos (población) a través de la </a:t>
            </a:r>
            <a:r>
              <a:rPr lang="es-419" b="1" dirty="0"/>
              <a:t>API de </a:t>
            </a:r>
            <a:r>
              <a:rPr lang="es-419" b="1" dirty="0" err="1"/>
              <a:t>Rest</a:t>
            </a:r>
            <a:r>
              <a:rPr lang="es-419" b="1" dirty="0"/>
              <a:t> Countries</a:t>
            </a:r>
            <a:r>
              <a:rPr lang="es-419" dirty="0"/>
              <a:t>.</a:t>
            </a:r>
          </a:p>
          <a:p>
            <a:pPr algn="l"/>
            <a:r>
              <a:rPr lang="es-419" b="1" dirty="0"/>
              <a:t>	Resultado:</a:t>
            </a:r>
            <a:endParaRPr lang="es-419" dirty="0"/>
          </a:p>
          <a:p>
            <a:pPr lvl="1" algn="l"/>
            <a:r>
              <a:rPr lang="es-419" dirty="0"/>
              <a:t>		Un dataset completo y listo para el análisis exploratorio y el modelado 			predictivo.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386422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2A27-98F0-454F-9F75-1D01FA808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752"/>
            <a:ext cx="10515600" cy="950024"/>
          </a:xfrm>
        </p:spPr>
        <p:txBody>
          <a:bodyPr/>
          <a:lstStyle/>
          <a:p>
            <a:pPr algn="ctr"/>
            <a:r>
              <a:rPr lang="es-419" b="1" dirty="0"/>
              <a:t>Respondiendo a las Hipótesis (Parte 1)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3F6324-3DC5-4724-9352-518C5520B1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88" y="1965960"/>
            <a:ext cx="5242728" cy="416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8EC6E9-4405-421C-A1B3-1978DCBDF8F4}"/>
              </a:ext>
            </a:extLst>
          </p:cNvPr>
          <p:cNvSpPr/>
          <p:nvPr/>
        </p:nvSpPr>
        <p:spPr>
          <a:xfrm>
            <a:off x="5657088" y="34290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419" b="1" i="0" dirty="0">
                <a:effectLst/>
                <a:latin typeface="quote-cjk-patch"/>
              </a:rPr>
              <a:t>Conclusión:</a:t>
            </a:r>
            <a:r>
              <a:rPr lang="es-419" b="0" i="0" dirty="0">
                <a:effectLst/>
                <a:latin typeface="quote-cjk-patch"/>
              </a:rPr>
              <a:t> </a:t>
            </a:r>
            <a:r>
              <a:rPr lang="es-419" b="1" i="0" dirty="0">
                <a:effectLst/>
                <a:latin typeface="quote-cjk-patch"/>
              </a:rPr>
              <a:t>Hipótesis Confirmada.</a:t>
            </a:r>
            <a:r>
              <a:rPr lang="es-419" b="0" i="0" dirty="0">
                <a:effectLst/>
                <a:latin typeface="quote-cjk-patch"/>
              </a:rPr>
              <a:t> Los equipos del Top 10 ganaron </a:t>
            </a:r>
            <a:r>
              <a:rPr lang="es-419" b="1" i="0" dirty="0">
                <a:effectLst/>
                <a:latin typeface="quote-cjk-patch"/>
              </a:rPr>
              <a:t>7.6</a:t>
            </a:r>
            <a:r>
              <a:rPr lang="es-419" b="0" i="0" dirty="0">
                <a:effectLst/>
                <a:latin typeface="quote-cjk-patch"/>
              </a:rPr>
              <a:t> partidos en 2025 vs. </a:t>
            </a:r>
            <a:r>
              <a:rPr lang="es-419" b="1" i="0" dirty="0">
                <a:effectLst/>
                <a:latin typeface="quote-cjk-patch"/>
              </a:rPr>
              <a:t>4.8</a:t>
            </a:r>
            <a:r>
              <a:rPr lang="es-419" b="0" i="0" dirty="0">
                <a:effectLst/>
                <a:latin typeface="quote-cjk-patch"/>
              </a:rPr>
              <a:t> el resto.</a:t>
            </a:r>
          </a:p>
        </p:txBody>
      </p:sp>
    </p:spTree>
    <p:extLst>
      <p:ext uri="{BB962C8B-B14F-4D97-AF65-F5344CB8AC3E}">
        <p14:creationId xmlns:p14="http://schemas.microsoft.com/office/powerpoint/2010/main" val="2758375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6FD5-7995-42E9-9237-2D3EE85C9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/>
          <a:lstStyle/>
          <a:p>
            <a:pPr algn="ctr"/>
            <a:r>
              <a:rPr lang="es-419" b="1" dirty="0"/>
              <a:t>Respondiendo a las Hipótesis (Parte 2)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2B0BD0-E77C-4E9B-841F-D70F5C46F0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77" y="1746503"/>
            <a:ext cx="5952207" cy="41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3901B6-9049-4398-9355-3EA87CAD7DB9}"/>
              </a:ext>
            </a:extLst>
          </p:cNvPr>
          <p:cNvSpPr/>
          <p:nvPr/>
        </p:nvSpPr>
        <p:spPr>
          <a:xfrm>
            <a:off x="6452079" y="3340047"/>
            <a:ext cx="54193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b="1" i="0" dirty="0">
                <a:effectLst/>
                <a:latin typeface="quote-cjk-patch"/>
              </a:rPr>
              <a:t>Conclusión:</a:t>
            </a:r>
            <a:r>
              <a:rPr lang="es-419" b="0" i="0" dirty="0">
                <a:effectLst/>
                <a:latin typeface="quote-cjk-patch"/>
              </a:rPr>
              <a:t> </a:t>
            </a:r>
            <a:r>
              <a:rPr lang="es-419" b="1" i="0" dirty="0">
                <a:effectLst/>
                <a:latin typeface="quote-cjk-patch"/>
              </a:rPr>
              <a:t>Hipótesis Confirmada.</a:t>
            </a:r>
            <a:r>
              <a:rPr lang="es-419" b="0" i="0" dirty="0">
                <a:effectLst/>
                <a:latin typeface="quote-cjk-patch"/>
              </a:rPr>
              <a:t> Dominio claro de </a:t>
            </a:r>
            <a:r>
              <a:rPr lang="es-419" b="1" i="0" dirty="0">
                <a:effectLst/>
                <a:latin typeface="quote-cjk-patch"/>
              </a:rPr>
              <a:t>UEFA (11.7)</a:t>
            </a:r>
            <a:r>
              <a:rPr lang="es-419" b="0" i="0" dirty="0">
                <a:effectLst/>
                <a:latin typeface="quote-cjk-patch"/>
              </a:rPr>
              <a:t> y </a:t>
            </a:r>
            <a:r>
              <a:rPr lang="es-419" b="1" i="0" dirty="0">
                <a:effectLst/>
                <a:latin typeface="quote-cjk-patch"/>
              </a:rPr>
              <a:t>CONMEBOL (16.5)</a:t>
            </a:r>
            <a:r>
              <a:rPr lang="es-419" b="0" i="0" dirty="0">
                <a:effectLst/>
                <a:latin typeface="quote-cjk-patch"/>
              </a:rPr>
              <a:t> frente al resto. La brecha competitiva es un hecho estadístico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8711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8E2E-1F34-4B15-AF63-B6B3551BE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7331"/>
          </a:xfrm>
        </p:spPr>
        <p:txBody>
          <a:bodyPr/>
          <a:lstStyle/>
          <a:p>
            <a:pPr algn="ctr"/>
            <a:r>
              <a:rPr lang="es-419" b="1" dirty="0"/>
              <a:t>Identificando a los Candidatos al Título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09135C9-B506-46BF-A6FE-4E455DC56C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04" y="1624457"/>
            <a:ext cx="6354764" cy="4035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F99E7D-B8FC-441B-8981-0B1C6F50719F}"/>
              </a:ext>
            </a:extLst>
          </p:cNvPr>
          <p:cNvSpPr/>
          <p:nvPr/>
        </p:nvSpPr>
        <p:spPr>
          <a:xfrm>
            <a:off x="6940296" y="2349634"/>
            <a:ext cx="457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b="1" i="0" dirty="0">
                <a:solidFill>
                  <a:srgbClr val="F9FAFB"/>
                </a:solidFill>
                <a:effectLst/>
                <a:latin typeface="quote-cjk-patch"/>
              </a:rPr>
              <a:t>Conclusión:</a:t>
            </a:r>
            <a:endParaRPr lang="es-419" b="0" i="0" dirty="0"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419" b="0" i="0" dirty="0">
                <a:effectLst/>
                <a:latin typeface="quote-cjk-patch"/>
              </a:rPr>
              <a:t>Las selecciones con mejor equilibrio ofensivo-defensivo en 2025 son: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España</a:t>
            </a:r>
            <a:endParaRPr lang="es-419" b="0" i="0" dirty="0">
              <a:effectLst/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Argentina</a:t>
            </a:r>
            <a:endParaRPr lang="es-419" b="0" i="0" dirty="0">
              <a:effectLst/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Francia</a:t>
            </a:r>
            <a:endParaRPr lang="es-419" b="0" i="0" dirty="0">
              <a:effectLst/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Inglaterra</a:t>
            </a:r>
            <a:endParaRPr lang="es-419" b="0" i="0" dirty="0">
              <a:effectLst/>
              <a:latin typeface="quote-cjk-patch"/>
            </a:endParaRPr>
          </a:p>
          <a:p>
            <a:br>
              <a:rPr lang="es-419" dirty="0"/>
            </a:b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947480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8F36-B497-490F-98F9-F5EE82E43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/>
          <a:lstStyle/>
          <a:p>
            <a:pPr algn="ctr"/>
            <a:r>
              <a:rPr lang="es-419" b="1" dirty="0"/>
              <a:t>¿Dónde está el "Grupo de la Muerte"?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ECF268F-4418-45AF-82D7-D9F92EE53E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70" y="1719675"/>
            <a:ext cx="6079214" cy="4114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AE02CD-00B6-496B-A25E-748103A812EC}"/>
              </a:ext>
            </a:extLst>
          </p:cNvPr>
          <p:cNvSpPr/>
          <p:nvPr/>
        </p:nvSpPr>
        <p:spPr>
          <a:xfrm>
            <a:off x="6547104" y="2899610"/>
            <a:ext cx="52517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Conclusión:</a:t>
            </a:r>
            <a:endParaRPr lang="es-419" b="0" i="0" dirty="0">
              <a:effectLst/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0" i="0" dirty="0">
                <a:effectLst/>
                <a:latin typeface="quote-cjk-patch"/>
              </a:rPr>
              <a:t>Los grupos con el mejor ranking promedio (menor número) son el </a:t>
            </a:r>
            <a:r>
              <a:rPr lang="es-419" b="1" i="0" dirty="0">
                <a:effectLst/>
                <a:latin typeface="quote-cjk-patch"/>
              </a:rPr>
              <a:t>E </a:t>
            </a:r>
            <a:r>
              <a:rPr lang="es-419" i="0" dirty="0">
                <a:effectLst/>
                <a:latin typeface="quote-cjk-patch"/>
              </a:rPr>
              <a:t>y el </a:t>
            </a:r>
            <a:r>
              <a:rPr lang="es-419" b="1" i="0" dirty="0">
                <a:effectLst/>
                <a:latin typeface="quote-cjk-patch"/>
              </a:rPr>
              <a:t>I</a:t>
            </a:r>
            <a:r>
              <a:rPr lang="es-419" b="0" i="0" dirty="0">
                <a:effectLst/>
                <a:latin typeface="quote-cjk-patch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Potencial "Grupo de la Muerte":</a:t>
            </a:r>
            <a:r>
              <a:rPr lang="es-419" b="0" i="0" dirty="0">
                <a:effectLst/>
                <a:latin typeface="quote-cjk-patch"/>
              </a:rPr>
              <a:t> Estos grupos prometen una fase inicial más disputada y reñida.</a:t>
            </a:r>
          </a:p>
        </p:txBody>
      </p:sp>
    </p:spTree>
    <p:extLst>
      <p:ext uri="{BB962C8B-B14F-4D97-AF65-F5344CB8AC3E}">
        <p14:creationId xmlns:p14="http://schemas.microsoft.com/office/powerpoint/2010/main" val="2901927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7943-91DB-4206-B691-A8B0E39A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4893"/>
            <a:ext cx="10515600" cy="841883"/>
          </a:xfrm>
        </p:spPr>
        <p:txBody>
          <a:bodyPr/>
          <a:lstStyle/>
          <a:p>
            <a:pPr algn="ctr"/>
            <a:r>
              <a:rPr lang="es-419" b="1" dirty="0"/>
              <a:t>Modelo de Clasificación para Octavos de 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98FC3-E79D-4026-B370-F21FB506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1697"/>
            <a:ext cx="10515600" cy="3112135"/>
          </a:xfrm>
        </p:spPr>
        <p:txBody>
          <a:bodyPr/>
          <a:lstStyle/>
          <a:p>
            <a:r>
              <a:rPr lang="es-419" b="1" dirty="0"/>
              <a:t>Problema:</a:t>
            </a:r>
            <a:r>
              <a:rPr lang="es-419" dirty="0"/>
              <a:t> Clasificación binaria (¿Clasifica a octavos?).</a:t>
            </a:r>
          </a:p>
          <a:p>
            <a:r>
              <a:rPr lang="es-419" b="1" dirty="0"/>
              <a:t>Variables Clave:</a:t>
            </a:r>
            <a:r>
              <a:rPr lang="es-419" dirty="0"/>
              <a:t> Ranking FIFA, diferencia de goles, efectividad, anfitrión, etc.</a:t>
            </a:r>
          </a:p>
          <a:p>
            <a:r>
              <a:rPr lang="es-419" b="1" dirty="0"/>
              <a:t>Modelos Evaluados:</a:t>
            </a:r>
            <a:r>
              <a:rPr lang="es-419" dirty="0"/>
              <a:t> Regresión Logística, </a:t>
            </a:r>
            <a:r>
              <a:rPr lang="es-419" dirty="0" err="1"/>
              <a:t>Random</a:t>
            </a:r>
            <a:r>
              <a:rPr lang="es-419" dirty="0"/>
              <a:t> Forest, </a:t>
            </a:r>
            <a:r>
              <a:rPr lang="es-419" dirty="0" err="1"/>
              <a:t>XGBoost</a:t>
            </a:r>
            <a:r>
              <a:rPr lang="es-419" dirty="0"/>
              <a:t>.</a:t>
            </a:r>
          </a:p>
          <a:p>
            <a:r>
              <a:rPr lang="es-419" b="1" dirty="0"/>
              <a:t>Mejor Modelo:</a:t>
            </a:r>
            <a:r>
              <a:rPr lang="es-419" dirty="0"/>
              <a:t> </a:t>
            </a:r>
            <a:r>
              <a:rPr lang="es-419" b="1" dirty="0"/>
              <a:t>Regresión Logística</a:t>
            </a:r>
            <a:r>
              <a:rPr lang="es-419" dirty="0"/>
              <a:t> (</a:t>
            </a:r>
            <a:r>
              <a:rPr lang="es-419" dirty="0" err="1"/>
              <a:t>Accuracy</a:t>
            </a:r>
            <a:r>
              <a:rPr lang="es-419" dirty="0"/>
              <a:t> y F1-Score del </a:t>
            </a:r>
            <a:r>
              <a:rPr lang="es-419" b="1" dirty="0"/>
              <a:t>100%</a:t>
            </a:r>
            <a:r>
              <a:rPr lang="es-419" dirty="0"/>
              <a:t> en el conjunto de prueba).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114623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D93AD-B101-4296-9829-AF427907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pPr algn="ctr"/>
            <a:r>
              <a:rPr lang="es-419" b="1" dirty="0"/>
              <a:t>¿Qué Define a un Clasificado?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5533535-8010-4BF2-8198-F271500B65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23" y="1828800"/>
            <a:ext cx="5903977" cy="442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588F6B-6B5C-44CB-98E1-D87E4C3571AF}"/>
              </a:ext>
            </a:extLst>
          </p:cNvPr>
          <p:cNvSpPr/>
          <p:nvPr/>
        </p:nvSpPr>
        <p:spPr>
          <a:xfrm>
            <a:off x="6324600" y="2831903"/>
            <a:ext cx="53614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Conclusión:</a:t>
            </a:r>
            <a:endParaRPr lang="es-419" b="0" i="0" dirty="0">
              <a:effectLst/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0" i="0" dirty="0">
                <a:effectLst/>
                <a:latin typeface="quote-cjk-patch"/>
              </a:rPr>
              <a:t>El </a:t>
            </a:r>
            <a:r>
              <a:rPr lang="es-419" b="1" i="0" dirty="0">
                <a:effectLst/>
                <a:latin typeface="quote-cjk-patch"/>
              </a:rPr>
              <a:t>Ranking FIFA</a:t>
            </a:r>
            <a:r>
              <a:rPr lang="es-419" b="0" i="0" dirty="0">
                <a:effectLst/>
                <a:latin typeface="quote-cjk-patch"/>
              </a:rPr>
              <a:t> y la </a:t>
            </a:r>
            <a:r>
              <a:rPr lang="es-419" b="1" i="0" dirty="0">
                <a:effectLst/>
                <a:latin typeface="quote-cjk-patch"/>
              </a:rPr>
              <a:t>Diferencia de Goles</a:t>
            </a:r>
            <a:r>
              <a:rPr lang="es-419" b="0" i="0" dirty="0">
                <a:effectLst/>
                <a:latin typeface="quote-cjk-patch"/>
              </a:rPr>
              <a:t> son los predictores más importantes.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0" i="0" dirty="0">
                <a:effectLst/>
                <a:latin typeface="quote-cjk-patch"/>
              </a:rPr>
              <a:t>La </a:t>
            </a:r>
            <a:r>
              <a:rPr lang="es-419" b="1" i="0" dirty="0">
                <a:effectLst/>
                <a:latin typeface="quote-cjk-patch"/>
              </a:rPr>
              <a:t>condición de anfitrión</a:t>
            </a:r>
            <a:r>
              <a:rPr lang="es-419" b="0" i="0" dirty="0">
                <a:effectLst/>
                <a:latin typeface="quote-cjk-patch"/>
              </a:rPr>
              <a:t> y la </a:t>
            </a:r>
            <a:r>
              <a:rPr lang="es-419" b="1" i="0" dirty="0">
                <a:effectLst/>
                <a:latin typeface="quote-cjk-patch"/>
              </a:rPr>
              <a:t>efectividad</a:t>
            </a:r>
            <a:r>
              <a:rPr lang="es-419" b="0" i="0" dirty="0">
                <a:solidFill>
                  <a:srgbClr val="F9FAFB"/>
                </a:solidFill>
                <a:effectLst/>
                <a:latin typeface="quote-cjk-patch"/>
              </a:rPr>
              <a:t> también influyen significativamente.</a:t>
            </a:r>
          </a:p>
        </p:txBody>
      </p:sp>
    </p:spTree>
    <p:extLst>
      <p:ext uri="{BB962C8B-B14F-4D97-AF65-F5344CB8AC3E}">
        <p14:creationId xmlns:p14="http://schemas.microsoft.com/office/powerpoint/2010/main" val="4051846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DF1D-054D-42DA-92B6-172CF9BF2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603"/>
          </a:xfrm>
        </p:spPr>
        <p:txBody>
          <a:bodyPr/>
          <a:lstStyle/>
          <a:p>
            <a:pPr algn="ctr"/>
            <a:r>
              <a:rPr lang="es-419" b="1" dirty="0"/>
              <a:t>Conclusiones y Trabajo Futuro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4F1DA-0598-4FE9-B0D7-0A681ABEB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1521"/>
            <a:ext cx="4849368" cy="4351338"/>
          </a:xfrm>
        </p:spPr>
        <p:txBody>
          <a:bodyPr>
            <a:normAutofit/>
          </a:bodyPr>
          <a:lstStyle/>
          <a:p>
            <a:r>
              <a:rPr lang="es-419" sz="1800" b="1" dirty="0"/>
              <a:t>Hallazgos Clave:</a:t>
            </a:r>
            <a:endParaRPr lang="es-419" sz="1800" dirty="0"/>
          </a:p>
          <a:p>
            <a:pPr lvl="1"/>
            <a:r>
              <a:rPr lang="es-419" sz="1800" dirty="0"/>
              <a:t>El ranking FIFA es un termómetro fiable.</a:t>
            </a:r>
          </a:p>
          <a:p>
            <a:pPr lvl="1"/>
            <a:r>
              <a:rPr lang="es-419" sz="1800" dirty="0"/>
              <a:t> La localía es una ventaja real.</a:t>
            </a:r>
          </a:p>
          <a:p>
            <a:pPr lvl="1"/>
            <a:r>
              <a:rPr lang="es-419" sz="1800" dirty="0"/>
              <a:t> La población influye, pero no es determinante.</a:t>
            </a:r>
          </a:p>
          <a:p>
            <a:pPr lvl="1"/>
            <a:r>
              <a:rPr lang="es-419" sz="1800" dirty="0"/>
              <a:t> UEFA y CONMEBOL marcan la pauta.</a:t>
            </a:r>
          </a:p>
          <a:p>
            <a:pPr lvl="1"/>
            <a:r>
              <a:rPr lang="es-419" sz="1800" dirty="0"/>
              <a:t> Favoritos: España, Argentina, Francia e Inglaterra.</a:t>
            </a:r>
          </a:p>
          <a:p>
            <a:pPr lvl="1"/>
            <a:r>
              <a:rPr lang="es-419" sz="1800" dirty="0"/>
              <a:t>Los grupos E </a:t>
            </a:r>
            <a:r>
              <a:rPr lang="es-419" sz="1800" dirty="0" err="1"/>
              <a:t>e</a:t>
            </a:r>
            <a:r>
              <a:rPr lang="es-419" sz="1800" dirty="0"/>
              <a:t> I son los más competitivos.</a:t>
            </a:r>
          </a:p>
          <a:p>
            <a:endParaRPr lang="es-419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420535-35CE-417A-8176-44C893B52194}"/>
              </a:ext>
            </a:extLst>
          </p:cNvPr>
          <p:cNvSpPr/>
          <p:nvPr/>
        </p:nvSpPr>
        <p:spPr>
          <a:xfrm>
            <a:off x="6659882" y="1751521"/>
            <a:ext cx="484936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Próximos Pasos:</a:t>
            </a:r>
            <a:endParaRPr lang="es-419" b="0" i="0" dirty="0">
              <a:effectLst/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Modelo Predictivo:</a:t>
            </a:r>
            <a:r>
              <a:rPr lang="es-419" b="0" i="0" dirty="0">
                <a:effectLst/>
                <a:latin typeface="quote-cjk-patch"/>
              </a:rPr>
              <a:t> Simular el torneo completo y calcular probabilidades de campeón.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Impacto Logístico:</a:t>
            </a:r>
            <a:r>
              <a:rPr lang="es-419" b="0" i="0" dirty="0">
                <a:effectLst/>
                <a:latin typeface="quote-cjk-patch"/>
              </a:rPr>
              <a:t> Analizar cómo la distribución de sedes (y los viajes) afecta el rendimiento.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419" b="1" i="0" dirty="0">
                <a:effectLst/>
                <a:latin typeface="quote-cjk-patch"/>
              </a:rPr>
              <a:t>Análisis de Redes Sociales:</a:t>
            </a:r>
            <a:r>
              <a:rPr lang="es-419" b="0" i="0" dirty="0">
                <a:effectLst/>
                <a:latin typeface="quote-cjk-patch"/>
              </a:rPr>
              <a:t> Correlacionar el rendimiento con el sentimiento digital.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E319D-CFDD-4364-BA9D-98087467DE08}"/>
              </a:ext>
            </a:extLst>
          </p:cNvPr>
          <p:cNvSpPr/>
          <p:nvPr/>
        </p:nvSpPr>
        <p:spPr>
          <a:xfrm>
            <a:off x="1567434" y="5770078"/>
            <a:ext cx="90571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s-419" b="0" i="0" dirty="0">
                <a:effectLst/>
                <a:latin typeface="quote-cjk-patch"/>
              </a:rPr>
              <a:t>El código y el análisis completo están disponibles en mi GitHub: [</a:t>
            </a:r>
            <a:r>
              <a:rPr lang="es-419" dirty="0">
                <a:solidFill>
                  <a:srgbClr val="0070C0"/>
                </a:solidFill>
              </a:rPr>
              <a:t>https://github.com/ddopazo92/Introduccion_datascience_diego_dopazo/blob/ciencia-de-datos-II/PROYECTO-DOPAZODIEGO.ipynb</a:t>
            </a:r>
            <a:r>
              <a:rPr lang="es-419" b="0" i="0" dirty="0">
                <a:effectLst/>
                <a:latin typeface="quote-cjk-patch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711249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659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quote-cjk-patch</vt:lpstr>
      <vt:lpstr>Office Theme</vt:lpstr>
      <vt:lpstr>  Un análisis de datos sobre el rendimiento de las selecciones previo al torneo</vt:lpstr>
      <vt:lpstr>¿Por qué este análisis y para quién?</vt:lpstr>
      <vt:lpstr>Las Preguntas que Guían Nuestro Análisis</vt:lpstr>
      <vt:lpstr>Construyendo el conjunto de datos</vt:lpstr>
      <vt:lpstr>Respondiendo a las Hipótesis (Parte 1)</vt:lpstr>
      <vt:lpstr>Respondiendo a las Hipótesis (Parte 2)</vt:lpstr>
      <vt:lpstr>Identificando a los Candidatos al Título</vt:lpstr>
      <vt:lpstr>¿Dónde está el "Grupo de la Muerte"?</vt:lpstr>
      <vt:lpstr>Modelo de Clasificación para Octavos de Final</vt:lpstr>
      <vt:lpstr>¿Qué Define a un Clasificado?</vt:lpstr>
      <vt:lpstr>Conclusiones y Trabajo Futuro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 análisis de datos sobre el rendimiento de las selecciones previo al torneo</dc:title>
  <dc:creator>Diego Dopazo</dc:creator>
  <cp:lastModifiedBy>Diego Dopazo</cp:lastModifiedBy>
  <cp:revision>4</cp:revision>
  <dcterms:created xsi:type="dcterms:W3CDTF">2026-05-01T00:02:04Z</dcterms:created>
  <dcterms:modified xsi:type="dcterms:W3CDTF">2026-05-01T00:25:57Z</dcterms:modified>
</cp:coreProperties>
</file>